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71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8878"/>
            <a:ext cx="226818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4879" y="605532"/>
            <a:ext cx="26509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PROJECT ID 24CC3046-P012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24112" y="548878"/>
            <a:ext cx="52981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37516" y="605532"/>
            <a:ext cx="9125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T114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9116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Azure SQL Database with Failover Group and Private Endpoint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23763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E-Commerce Order Management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475" y="293866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475" y="339397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Team members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3866455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Koritala Bhavana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Devabhaktuni Monika Mithra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Kagitha prem Siddhartha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Balaga Harshavardhan Naidu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2776" y="339397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ID numbers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32776" y="3866455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2400030596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2400031564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2400031606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2400031652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555307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820767"/>
            <a:ext cx="236234" cy="1890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5723" y="578931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Secure, highly available cloud database architecture for critical order processing.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31EBFF-BDF9-8C0A-E71C-C5B0BC354A75}"/>
              </a:ext>
            </a:extLst>
          </p:cNvPr>
          <p:cNvSpPr/>
          <p:nvPr/>
        </p:nvSpPr>
        <p:spPr>
          <a:xfrm>
            <a:off x="11122090" y="6522098"/>
            <a:ext cx="1017715" cy="3018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F67FD-0162-4BF7-01E8-6B8E1591BDC9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0926-1709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84413" y="18485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Problem Statement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3442593"/>
            <a:ext cx="1086874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752E7-92B1-B5D2-A3D9-E397F0F186E9}"/>
              </a:ext>
            </a:extLst>
          </p:cNvPr>
          <p:cNvSpPr/>
          <p:nvPr/>
        </p:nvSpPr>
        <p:spPr>
          <a:xfrm>
            <a:off x="11122090" y="6531429"/>
            <a:ext cx="1069910" cy="326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1F11E5-27A8-B081-8989-D2966009486B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6EEEDC8-C5CF-872C-ABF7-821A9F311579}"/>
              </a:ext>
            </a:extLst>
          </p:cNvPr>
          <p:cNvSpPr/>
          <p:nvPr/>
        </p:nvSpPr>
        <p:spPr>
          <a:xfrm>
            <a:off x="584413" y="2776884"/>
            <a:ext cx="10945807" cy="2803686"/>
          </a:xfrm>
          <a:prstGeom prst="roundRect">
            <a:avLst>
              <a:gd name="adj" fmla="val 274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7BCD5-5586-55E7-8992-3FAD593364A3}"/>
              </a:ext>
            </a:extLst>
          </p:cNvPr>
          <p:cNvSpPr txBox="1"/>
          <p:nvPr/>
        </p:nvSpPr>
        <p:spPr>
          <a:xfrm>
            <a:off x="979714" y="3170267"/>
            <a:ext cx="97504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E-commerce platforms depend on continuous database availability for critical operations such as checkout and order processing. A regional Azure failure can make the database unavailable and interrupt these operations, while public database access introduces security risks. The challenge is to provide secure private database access and cross-region availability while allowing the application to continue operating during database failover.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1475" y="17246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Use Cases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1475" y="2598738"/>
            <a:ext cx="3496877" cy="2897287"/>
          </a:xfrm>
          <a:prstGeom prst="roundRect">
            <a:avLst>
              <a:gd name="adj" fmla="val 274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6832" y="2794099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949972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6832" y="3550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Secure Database Access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56832" y="3958828"/>
            <a:ext cx="310616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 direct public access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Private Endpoint + Private DNS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7359" y="2598738"/>
            <a:ext cx="3496877" cy="2897287"/>
          </a:xfrm>
          <a:prstGeom prst="roundRect">
            <a:avLst>
              <a:gd name="adj" fmla="val 274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42716" y="2794099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949972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42716" y="3550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High Availability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542716" y="3958828"/>
            <a:ext cx="310616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Primary database in Region 1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Secondary database in Region 2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Failover during regional failure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33244" y="2598738"/>
            <a:ext cx="3496877" cy="2897287"/>
          </a:xfrm>
          <a:prstGeom prst="roundRect">
            <a:avLst>
              <a:gd name="adj" fmla="val 274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8600" y="2794099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2949972"/>
            <a:ext cx="255085" cy="2550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8600" y="3550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Application Continuity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228600" y="3958828"/>
            <a:ext cx="310616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Application uses Failover Group Listener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Same endpoint after failover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 connection-string change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68C7A6-8BA8-175B-6837-DE00B5E70BCD}"/>
              </a:ext>
            </a:extLst>
          </p:cNvPr>
          <p:cNvSpPr/>
          <p:nvPr/>
        </p:nvSpPr>
        <p:spPr>
          <a:xfrm>
            <a:off x="11165633" y="6382139"/>
            <a:ext cx="1026367" cy="4758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65473-1834-AB93-1BB0-05BAA19FAE03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825746"/>
            <a:ext cx="158889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Azure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51526"/>
            <a:ext cx="778937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Core Azure services used in the proposed secure and highly available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993392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504" y="1993392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245007"/>
            <a:ext cx="2431628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SQL Database — 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993392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0" y="1993392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059935" y="2231136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245007"/>
            <a:ext cx="2571088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SQL Database — Secondary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993392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60336" y="1993392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388352" y="2231136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5007"/>
            <a:ext cx="2039533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SQL Failover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944368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3504" y="2944368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520" y="3182112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195983"/>
            <a:ext cx="2258503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Virtual Network (VNet)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944368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31920" y="2944368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059935" y="3182112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3195983"/>
            <a:ext cx="723275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944368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60336" y="2944368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88352" y="3182112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195983"/>
            <a:ext cx="2173993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Endpoint — Primary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895344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3504" y="3895344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31520" y="4133087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146959"/>
            <a:ext cx="2313454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Endpoint — Secondary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895344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931920" y="3895344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059935" y="4133087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3" y="4146959"/>
            <a:ext cx="1425390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DNS Zone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0336" y="3895344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60336" y="3895344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388352" y="4133087"/>
            <a:ext cx="31089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146959"/>
            <a:ext cx="2344231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Group (NSG)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4846320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3504" y="4846320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31520" y="5084064"/>
            <a:ext cx="40233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5097935"/>
            <a:ext cx="1003929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4846320"/>
            <a:ext cx="3163824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931920" y="4846320"/>
            <a:ext cx="3163824" cy="118872"/>
          </a:xfrm>
          <a:prstGeom prst="rect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059935" y="5084064"/>
            <a:ext cx="402336" cy="310896"/>
          </a:xfrm>
          <a:prstGeom prst="ellipse">
            <a:avLst/>
          </a:prstGeom>
          <a:solidFill>
            <a:srgbClr val="DC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3737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43983" y="5097935"/>
            <a:ext cx="1626536" cy="2831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40" b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VM — 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5918676"/>
            <a:ext cx="2385589" cy="269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414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• Private • Highly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1475" y="14971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Bottlenecks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237122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Proactive identification and mitigation of these critical issues are essential for maintaining continuous database availability and secure operations.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1475" y="3401318"/>
            <a:ext cx="5203794" cy="1807170"/>
          </a:xfrm>
          <a:prstGeom prst="roundRect">
            <a:avLst>
              <a:gd name="adj" fmla="val 4393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659386"/>
            <a:ext cx="295268" cy="23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756" y="3637558"/>
            <a:ext cx="434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Bottleneck 1 — Private Endpoint DNS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334756" y="4121845"/>
            <a:ext cx="4341505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SQL hostname must resolve to the private endpoint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Incorrect DNS → database connection failure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332776" y="3401318"/>
            <a:ext cx="5203794" cy="2109589"/>
          </a:xfrm>
          <a:prstGeom prst="roundRect">
            <a:avLst>
              <a:gd name="adj" fmla="val 3763"/>
            </a:avLst>
          </a:prstGeom>
          <a:solidFill>
            <a:srgbClr val="FCF2B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3659386"/>
            <a:ext cx="295268" cy="236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06058" y="3637558"/>
            <a:ext cx="434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Bottleneck 2 — Failover Group Listener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006058" y="4121845"/>
            <a:ext cx="4341505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Direct connection to primary can cause issues after failover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Application should use the Failover Group read/write listener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03E167-20DA-6FBE-86DD-3EA0FB722D66}"/>
              </a:ext>
            </a:extLst>
          </p:cNvPr>
          <p:cNvSpPr/>
          <p:nvPr/>
        </p:nvSpPr>
        <p:spPr>
          <a:xfrm>
            <a:off x="11038114" y="6419461"/>
            <a:ext cx="1153886" cy="4050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A84907-0894-091E-541D-C4AFC359DFFD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33526" y="894159"/>
            <a:ext cx="26445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112682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Layered Architecture for Database Resilience</a:t>
            </a:r>
            <a:endParaRPr lang="en-US" sz="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178067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proposed solution builds a robust and secure database architecture by layering key Azure services, ensuring both data protection and continuous availability.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5708"/>
            <a:ext cx="3542219" cy="12056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1730" y="3096915"/>
            <a:ext cx="32017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Private Endpoint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1730" y="3405684"/>
            <a:ext cx="320170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Enables private database connectivity, ensuring public network access is disabled.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639" y="2578894"/>
            <a:ext cx="3542318" cy="14324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94894" y="2870101"/>
            <a:ext cx="3201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Private DNS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494894" y="3178870"/>
            <a:ext cx="3201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Resolves the SQL hostname to the private endpoint, securing all database traffic.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902" y="2352080"/>
            <a:ext cx="3542318" cy="16592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58157" y="2643287"/>
            <a:ext cx="3201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Cross-Region Replication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158157" y="2952055"/>
            <a:ext cx="320180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Provides geographical redundancy and cross-region database availability for disaster recovery.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85891"/>
            <a:ext cx="3542219" cy="14232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1730" y="4877098"/>
            <a:ext cx="32017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Azure SQL Failover Group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831730" y="5185866"/>
            <a:ext cx="320170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Orchestrates failover and ensures a stable application endpoint, preventing connection string changes during outages.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4639" y="4359077"/>
            <a:ext cx="3542318" cy="165010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94894" y="4650284"/>
            <a:ext cx="3201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Secure + Highly Available Database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AB65B5-0CEE-FDF4-BF3E-2C3C05F3AE85}"/>
              </a:ext>
            </a:extLst>
          </p:cNvPr>
          <p:cNvSpPr/>
          <p:nvPr/>
        </p:nvSpPr>
        <p:spPr>
          <a:xfrm>
            <a:off x="11000792" y="6391469"/>
            <a:ext cx="1191208" cy="435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D9916-5825-307F-4566-851C3AC20D93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9E69D-C553-7049-F755-379B07E455FF}"/>
              </a:ext>
            </a:extLst>
          </p:cNvPr>
          <p:cNvSpPr txBox="1"/>
          <p:nvPr/>
        </p:nvSpPr>
        <p:spPr>
          <a:xfrm>
            <a:off x="4599992" y="5010539"/>
            <a:ext cx="2789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private connectivity, secure DNS, and cross-region replication to protect data and maintain database availability during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48498" y="557907"/>
            <a:ext cx="2190993" cy="95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707430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Architecture Diagram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A8BBDF-DCB2-B560-CCC9-434DFFE9A661}"/>
              </a:ext>
            </a:extLst>
          </p:cNvPr>
          <p:cNvSpPr/>
          <p:nvPr/>
        </p:nvSpPr>
        <p:spPr>
          <a:xfrm>
            <a:off x="10926147" y="632240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1F25B-FE64-2D96-8EB9-CAE364A01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3" y="1086346"/>
            <a:ext cx="8300357" cy="5533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61475" y="104179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Expected Outcome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8631"/>
            <a:ext cx="401627" cy="401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320925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Secure Private Database Access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1475" y="2653804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 direct public network access, protecting sensitive data.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173" y="1748631"/>
            <a:ext cx="401627" cy="401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1173" y="2320925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Cross-Region Availability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181173" y="2653804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Ensuring continuous operation even during regional failures.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64582"/>
            <a:ext cx="401627" cy="401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73687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Seamless Database Failover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61475" y="406975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Automated switching to secondary database with minimal disruption.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173" y="3164582"/>
            <a:ext cx="401627" cy="4016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81173" y="373687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Application Continuity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181173" y="406975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Applications remain connected without manual intervention.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580533"/>
            <a:ext cx="401627" cy="4016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1475" y="5152827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No Public Database Exposure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61475" y="548570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Eliminating external access points for enhanced security.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173" y="4580533"/>
            <a:ext cx="401627" cy="40163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81173" y="5152827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Reliable DNS Resolution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181173" y="548570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Consistent hostname resolution for stable connectivity.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356682" y="587702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400" kern="0" spc="-2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goal is to keep the e-commerce database secure and available even when the primary Azure region fails.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EE420-EE56-AEAC-5FD5-06DC4F58F962}"/>
              </a:ext>
            </a:extLst>
          </p:cNvPr>
          <p:cNvSpPr/>
          <p:nvPr/>
        </p:nvSpPr>
        <p:spPr>
          <a:xfrm>
            <a:off x="10935479" y="6522098"/>
            <a:ext cx="1256522" cy="3359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EB998-767B-707D-32FE-241219C9846C}"/>
              </a:ext>
            </a:extLst>
          </p:cNvPr>
          <p:cNvSpPr/>
          <p:nvPr/>
        </p:nvSpPr>
        <p:spPr>
          <a:xfrm>
            <a:off x="10926147" y="6391764"/>
            <a:ext cx="1265853" cy="46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511</Words>
  <Application>Microsoft Office PowerPoint</Application>
  <PresentationFormat>Widescreen</PresentationFormat>
  <Paragraphs>96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Siva Harsha Vardhan Reddy Tamalampudi</cp:lastModifiedBy>
  <cp:revision>6</cp:revision>
  <dcterms:created xsi:type="dcterms:W3CDTF">2026-09-26T13:43:27Z</dcterms:created>
  <dcterms:modified xsi:type="dcterms:W3CDTF">2026-09-27T05:05:19Z</dcterms:modified>
</cp:coreProperties>
</file>